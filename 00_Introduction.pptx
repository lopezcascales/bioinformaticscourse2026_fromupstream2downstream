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4.png" ContentType="image/png"/>
  <Override PartName="/ppt/media/image21.png" ContentType="image/png"/>
  <Override PartName="/ppt/media/image19.png" ContentType="image/png"/>
  <Override PartName="/ppt/media/image1.png" ContentType="image/png"/>
  <Override PartName="/ppt/media/image3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2.png" ContentType="image/png"/>
  <Override PartName="/ppt/media/image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23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A0A471-EAD9-4995-B4E8-61E7CF5B1D4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A61F3-45D2-4652-A036-64A06E05CD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839A96-46CC-417D-903A-7A62F6502D4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7EF5CE-B1FD-4B94-8990-887911BEE06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7948B5-3BC4-4596-8F65-5E04A62D90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0E554D-6B8A-42B4-B61C-DE565B231F0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F3964-4D97-4190-ADF3-A8BF3D2BA4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05CCB9-975B-4CC8-B66E-972699E16C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68E06-B887-44E5-999D-FFDD5F8340B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E58A4B-CF77-41D7-9A92-FDC0CC7E50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6F319C-F364-4399-B2D5-A5D6A434ABC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061D9C-4C1B-4A99-B177-9099A14477C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22853846-27A6-455B-9077-7A586936F480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Loma"/>
              </a:rPr>
              <a:t>Bioinformatics</a:t>
            </a:r>
            <a:r>
              <a:rPr b="0" lang="en-US" sz="4400" spc="-1" strike="noStrike">
                <a:latin typeface="Arial"/>
              </a:rPr>
              <a:t> 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457200" y="1785960"/>
            <a:ext cx="907164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latin typeface="Arial"/>
              </a:rPr>
              <a:t>Basic Tips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57200" y="4255560"/>
            <a:ext cx="9071640" cy="14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3200" spc="-1" strike="noStrike">
                <a:latin typeface="Arial"/>
              </a:rPr>
              <a:t>Maria Teresa Lopez Cascales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Linear algebra is so important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758160" y="1650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Matrices are everywhere in Bioinformatics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RNAseq: Gene x sample matrix with read counts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Single-cell: Gene by cell matrix read counts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ChIPseq: Peak by sample reads per peak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Drug response: Drug by sample with IC50 values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191880"/>
            <a:ext cx="9071640" cy="72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Matrices power every workflow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3368520" y="1033920"/>
            <a:ext cx="5918040" cy="4343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PCA: Dimensionality reduction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Clustering: Visualization of cell populations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Matrix factorization: Applied to scRNAseq data</a:t>
            </a:r>
            <a:endParaRPr b="0" lang="en-US" sz="2400" spc="-1" strike="noStrike"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457200" y="1033920"/>
            <a:ext cx="2911320" cy="17092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Functional Programming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756000" y="1542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Functions over loops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Take inputs, return outputs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Readable code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latin typeface="Arial"/>
              </a:rPr>
              <a:t>Be clear, explain your objetive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Fewer bugs: Simple logic means less to break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Why it matters in bioinformatics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Many datasets, many projects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Faster execution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Easier maintenance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Meet puurrr:map()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The {puurrr} package replace loops with functional mapping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400" spc="-1" strike="noStrike"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5553000" y="2057400"/>
            <a:ext cx="2905200" cy="2971800"/>
          </a:xfrm>
          <a:prstGeom prst="rect">
            <a:avLst/>
          </a:prstGeom>
          <a:ln w="36720">
            <a:noFill/>
          </a:ln>
        </p:spPr>
      </p:pic>
      <p:pic>
        <p:nvPicPr>
          <p:cNvPr id="56" name="" descr=""/>
          <p:cNvPicPr/>
          <p:nvPr/>
        </p:nvPicPr>
        <p:blipFill>
          <a:blip r:embed="rId2"/>
          <a:stretch/>
        </p:blipFill>
        <p:spPr>
          <a:xfrm>
            <a:off x="1143000" y="2464560"/>
            <a:ext cx="3886200" cy="210744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" descr=""/>
          <p:cNvPicPr/>
          <p:nvPr/>
        </p:nvPicPr>
        <p:blipFill>
          <a:blip r:embed="rId1"/>
          <a:stretch/>
        </p:blipFill>
        <p:spPr>
          <a:xfrm>
            <a:off x="2140200" y="1231560"/>
            <a:ext cx="5800320" cy="32094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-28080"/>
            <a:ext cx="9071640" cy="145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Bioinformatics is not a </a:t>
            </a:r>
            <a:br>
              <a:rPr sz="3600"/>
            </a:br>
            <a:r>
              <a:rPr b="1" lang="en-US" sz="3600" spc="-1" strike="noStrike">
                <a:solidFill>
                  <a:srgbClr val="dc143c"/>
                </a:solidFill>
                <a:latin typeface="Loma"/>
              </a:rPr>
              <a:t>Push-button</a:t>
            </a:r>
            <a:r>
              <a:rPr b="1" lang="en-US" sz="3600" spc="-1" strike="noStrike">
                <a:latin typeface="Loma"/>
              </a:rPr>
              <a:t> Job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The reality behind every figure in a paper is far more complex than it looks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-28080"/>
            <a:ext cx="9071640" cy="145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1" lang="en-US" sz="3600" spc="-1" strike="noStrike">
                <a:latin typeface="Loma"/>
              </a:rPr>
              <a:t>What we actually do </a:t>
            </a:r>
            <a:br>
              <a:rPr sz="3600"/>
            </a:br>
            <a:r>
              <a:rPr b="1" lang="en-US" sz="3600" spc="-1" strike="noStrike">
                <a:solidFill>
                  <a:srgbClr val="3cb371"/>
                </a:solidFill>
                <a:latin typeface="Loma"/>
              </a:rPr>
              <a:t>BEFORE</a:t>
            </a:r>
            <a:r>
              <a:rPr b="1" lang="en-US" sz="3600" spc="-1" strike="noStrike">
                <a:latin typeface="Loma"/>
              </a:rPr>
              <a:t> every ANALYSIS</a:t>
            </a:r>
            <a:endParaRPr b="1" lang="en-US" sz="3600" spc="-1" strike="noStrike">
              <a:latin typeface="L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51236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01. Understand the biology 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02. Assess experimental design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03. QC raw sequencing data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04. Clean messy metadata</a:t>
            </a:r>
            <a:endParaRPr b="0" lang="en-US" sz="24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05. Only then analysis begin. </a:t>
            </a:r>
            <a:endParaRPr b="0" lang="en-US" sz="24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Raw data is always messy</a:t>
            </a:r>
            <a:endParaRPr b="0" lang="en-US" sz="2800" spc="-1" strike="noStrike">
              <a:latin typeface="Arial"/>
            </a:endParaRPr>
          </a:p>
        </p:txBody>
      </p:sp>
      <p:grpSp>
        <p:nvGrpSpPr>
          <p:cNvPr id="62" name=""/>
          <p:cNvGrpSpPr/>
          <p:nvPr/>
        </p:nvGrpSpPr>
        <p:grpSpPr>
          <a:xfrm>
            <a:off x="5715000" y="3549960"/>
            <a:ext cx="3886200" cy="1250640"/>
            <a:chOff x="5715000" y="3549960"/>
            <a:chExt cx="3886200" cy="1250640"/>
          </a:xfrm>
        </p:grpSpPr>
        <p:pic>
          <p:nvPicPr>
            <p:cNvPr id="63" name="" descr=""/>
            <p:cNvPicPr/>
            <p:nvPr/>
          </p:nvPicPr>
          <p:blipFill>
            <a:blip r:embed="rId1"/>
            <a:stretch/>
          </p:blipFill>
          <p:spPr>
            <a:xfrm>
              <a:off x="5715000" y="3549960"/>
              <a:ext cx="3886200" cy="1250640"/>
            </a:xfrm>
            <a:prstGeom prst="rect">
              <a:avLst/>
            </a:prstGeom>
            <a:ln w="36720">
              <a:noFill/>
            </a:ln>
          </p:spPr>
        </p:pic>
        <p:sp>
          <p:nvSpPr>
            <p:cNvPr id="64" name=""/>
            <p:cNvSpPr/>
            <p:nvPr/>
          </p:nvSpPr>
          <p:spPr>
            <a:xfrm>
              <a:off x="8794800" y="4428720"/>
              <a:ext cx="685800" cy="228600"/>
            </a:xfrm>
            <a:prstGeom prst="rect">
              <a:avLst/>
            </a:prstGeom>
            <a:solidFill>
              <a:srgbClr val="729fcf"/>
            </a:solidFill>
            <a:ln w="0">
              <a:solidFill>
                <a:srgbClr val="3465a4"/>
              </a:solidFill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"/>
            <p:cNvSpPr txBox="1"/>
            <p:nvPr/>
          </p:nvSpPr>
          <p:spPr>
            <a:xfrm>
              <a:off x="8686800" y="4428720"/>
              <a:ext cx="685800" cy="22860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rIns="0" tIns="0" bIns="0" anchor="t">
              <a:normAutofit fontScale="65000"/>
            </a:bodyPr>
            <a:p>
              <a:pPr marL="432000" indent="-324000">
                <a:spcBef>
                  <a:spcPts val="1417"/>
                </a:spcBef>
                <a:buClr>
                  <a:srgbClr val="000000"/>
                </a:buClr>
                <a:buSzPct val="45000"/>
                <a:buFont typeface="Wingdings" charset="2"/>
                <a:buChar char=""/>
              </a:pPr>
              <a:r>
                <a:rPr b="0" lang="en-US" sz="2000" spc="-1" strike="noStrike">
                  <a:latin typeface="Arial"/>
                </a:rPr>
                <a:t>clean</a:t>
              </a:r>
              <a:endParaRPr b="0" lang="en-US" sz="2000" spc="-1" strike="noStrike"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1236960" y="457200"/>
            <a:ext cx="7449840" cy="47278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2021400" y="108000"/>
            <a:ext cx="5733360" cy="54424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" descr=""/>
          <p:cNvPicPr/>
          <p:nvPr/>
        </p:nvPicPr>
        <p:blipFill>
          <a:blip r:embed="rId1"/>
          <a:stretch/>
        </p:blipFill>
        <p:spPr>
          <a:xfrm>
            <a:off x="1828800" y="685800"/>
            <a:ext cx="6473520" cy="42714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2156040" y="1142280"/>
            <a:ext cx="5159160" cy="160092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" descr=""/>
          <p:cNvPicPr/>
          <p:nvPr/>
        </p:nvPicPr>
        <p:blipFill>
          <a:blip r:embed="rId1"/>
          <a:stretch/>
        </p:blipFill>
        <p:spPr>
          <a:xfrm>
            <a:off x="1213200" y="612000"/>
            <a:ext cx="7473600" cy="44172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2442600" y="142200"/>
            <a:ext cx="4819680" cy="54162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2108520" y="2121120"/>
            <a:ext cx="5206680" cy="3365280"/>
          </a:xfrm>
          <a:prstGeom prst="rect">
            <a:avLst/>
          </a:prstGeom>
          <a:ln w="36720">
            <a:noFill/>
          </a:ln>
        </p:spPr>
      </p:pic>
      <p:grpSp>
        <p:nvGrpSpPr>
          <p:cNvPr id="73" name=""/>
          <p:cNvGrpSpPr/>
          <p:nvPr/>
        </p:nvGrpSpPr>
        <p:grpSpPr>
          <a:xfrm>
            <a:off x="2743200" y="264960"/>
            <a:ext cx="4135320" cy="1792440"/>
            <a:chOff x="2743200" y="264960"/>
            <a:chExt cx="4135320" cy="1792440"/>
          </a:xfrm>
        </p:grpSpPr>
        <p:pic>
          <p:nvPicPr>
            <p:cNvPr id="74" name="" descr=""/>
            <p:cNvPicPr/>
            <p:nvPr/>
          </p:nvPicPr>
          <p:blipFill>
            <a:blip r:embed="rId2"/>
            <a:stretch/>
          </p:blipFill>
          <p:spPr>
            <a:xfrm>
              <a:off x="2743200" y="264960"/>
              <a:ext cx="4135320" cy="1792440"/>
            </a:xfrm>
            <a:prstGeom prst="rect">
              <a:avLst/>
            </a:prstGeom>
            <a:ln w="36720">
              <a:noFill/>
            </a:ln>
          </p:spPr>
        </p:pic>
        <p:sp>
          <p:nvSpPr>
            <p:cNvPr id="75" name=""/>
            <p:cNvSpPr/>
            <p:nvPr/>
          </p:nvSpPr>
          <p:spPr>
            <a:xfrm>
              <a:off x="5679000" y="1708200"/>
              <a:ext cx="457200" cy="349200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ffffff"/>
              </a:solidFill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6" name=""/>
          <p:cNvSpPr/>
          <p:nvPr/>
        </p:nvSpPr>
        <p:spPr>
          <a:xfrm>
            <a:off x="1828800" y="2057400"/>
            <a:ext cx="6172200" cy="3429000"/>
          </a:xfrm>
          <a:prstGeom prst="rect">
            <a:avLst/>
          </a:prstGeom>
          <a:noFill/>
          <a:ln w="5472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2425320" y="457200"/>
            <a:ext cx="5347080" cy="49698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284400" y="1336680"/>
            <a:ext cx="4744800" cy="2778120"/>
          </a:xfrm>
          <a:prstGeom prst="rect">
            <a:avLst/>
          </a:prstGeom>
          <a:ln w="36720">
            <a:noFill/>
          </a:ln>
        </p:spPr>
      </p:pic>
      <p:pic>
        <p:nvPicPr>
          <p:cNvPr id="79" name="" descr=""/>
          <p:cNvPicPr/>
          <p:nvPr/>
        </p:nvPicPr>
        <p:blipFill>
          <a:blip r:embed="rId2"/>
          <a:stretch/>
        </p:blipFill>
        <p:spPr>
          <a:xfrm>
            <a:off x="5154840" y="228600"/>
            <a:ext cx="4446360" cy="49852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2470320" y="1445400"/>
            <a:ext cx="5302080" cy="266940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" descr=""/>
          <p:cNvPicPr/>
          <p:nvPr/>
        </p:nvPicPr>
        <p:blipFill>
          <a:blip r:embed="rId1"/>
          <a:stretch/>
        </p:blipFill>
        <p:spPr>
          <a:xfrm>
            <a:off x="2235600" y="457200"/>
            <a:ext cx="5308200" cy="467496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2498760" y="1371600"/>
            <a:ext cx="4816440" cy="263124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2286000" y="457200"/>
            <a:ext cx="4998960" cy="498528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" descr=""/>
          <p:cNvPicPr/>
          <p:nvPr/>
        </p:nvPicPr>
        <p:blipFill>
          <a:blip r:embed="rId1"/>
          <a:stretch/>
        </p:blipFill>
        <p:spPr>
          <a:xfrm>
            <a:off x="2480400" y="228600"/>
            <a:ext cx="5063400" cy="5189040"/>
          </a:xfrm>
          <a:prstGeom prst="rect">
            <a:avLst/>
          </a:prstGeom>
          <a:ln w="3672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2026-09-29T13:36:56Z</dcterms:created>
  <dc:creator/>
  <dc:description/>
  <dc:language>en-US</dc:language>
  <cp:lastModifiedBy/>
  <dcterms:modified xsi:type="dcterms:W3CDTF">2026-09-29T14:20:20Z</dcterms:modified>
  <cp:revision>1</cp:revision>
  <dc:subject/>
  <dc:title/>
</cp:coreProperties>
</file>